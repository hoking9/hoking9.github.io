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6256000" cy="9144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38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4A6A9-A902-4CBA-AB49-1616380B10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223C8-472C-40EF-9C70-9FEF072272B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箭头: 右 2"/>
          <p:cNvSpPr/>
          <p:nvPr/>
        </p:nvSpPr>
        <p:spPr>
          <a:xfrm>
            <a:off x="9906000" y="889000"/>
            <a:ext cx="5334000" cy="7112000"/>
          </a:xfrm>
          <a:prstGeom prst="rightArrow">
            <a:avLst/>
          </a:prstGeom>
          <a:solidFill>
            <a:srgbClr val="285B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97000" y="1524000"/>
            <a:ext cx="9144000" cy="87203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5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</a:t>
            </a:r>
            <a:endParaRPr lang="zh-CN" altLang="en-US" sz="5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0500" y="2692400"/>
            <a:ext cx="7874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500">
                <a:solidFill>
                  <a:srgbClr val="DE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500">
                <a:solidFill>
                  <a:srgbClr val="DE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2500">
              <a:solidFill>
                <a:srgbClr val="DEEB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98600" y="4191000"/>
            <a:ext cx="7874000" cy="213296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悉尼智能科技学院
计算机科学与技术 </a:t>
            </a:r>
            <a:r>
              <a:rPr lang="en-US" altLang="zh-CN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CST2502
</a:t>
            </a:r>
            <a:r>
              <a:rPr lang="zh-CN" altLang="en-US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学号：</a:t>
            </a:r>
            <a:r>
              <a:rPr lang="en-US" altLang="zh-CN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
</a:t>
            </a:r>
            <a:r>
              <a:rPr lang="zh-CN" altLang="en-US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姓名：王宸阅（</a:t>
            </a:r>
            <a:r>
              <a:rPr lang="en-US" altLang="zh-CN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ACM</a:t>
            </a:r>
            <a:r>
              <a:rPr lang="zh-CN" altLang="en-US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俱乐部成员）
指导教师：王和兴
日期：</a:t>
            </a:r>
            <a:r>
              <a:rPr lang="en-US" altLang="zh-CN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r>
            <a:r>
              <a:rPr lang="zh-CN" altLang="en-US" sz="2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22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0033000" y="3302000"/>
            <a:ext cx="4191000" cy="215900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EBF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BigInteger </a:t>
            </a:r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的高精度分数运算
</a:t>
            </a:r>
            <a:r>
              <a:rPr lang="en-US" altLang="zh-CN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Swing </a:t>
            </a:r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图形界面
表达式解析 </a:t>
            </a:r>
            <a:r>
              <a:rPr lang="en-US" altLang="zh-CN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历史记录</a:t>
            </a:r>
            <a:endParaRPr lang="zh-CN" altLang="en-US" sz="21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01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1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397000" y="1524000"/>
            <a:ext cx="889000" cy="889000"/>
          </a:xfrm>
          <a:prstGeom prst="ellipse">
            <a:avLst/>
          </a:prstGeom>
          <a:solidFill>
            <a:srgbClr val="2A69BE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65400" y="1676400"/>
            <a:ext cx="495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项目背景与需求</a:t>
            </a:r>
            <a:endParaRPr lang="zh-CN" altLang="en-US" sz="24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8128000" y="1524000"/>
            <a:ext cx="889000" cy="889000"/>
          </a:xfrm>
          <a:prstGeom prst="ellipse">
            <a:avLst/>
          </a:prstGeom>
          <a:solidFill>
            <a:srgbClr val="2A69BE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96400" y="1676400"/>
            <a:ext cx="495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系统架构与类设计</a:t>
            </a:r>
            <a:endParaRPr lang="zh-CN" altLang="en-US" sz="24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397000" y="3048000"/>
            <a:ext cx="889000" cy="889000"/>
          </a:xfrm>
          <a:prstGeom prst="ellipse">
            <a:avLst/>
          </a:prstGeom>
          <a:solidFill>
            <a:srgbClr val="2A69BE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65400" y="3200400"/>
            <a:ext cx="495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核心功能实现</a:t>
            </a:r>
            <a:endParaRPr lang="zh-CN" altLang="en-US" sz="24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8128000" y="3048000"/>
            <a:ext cx="889000" cy="889000"/>
          </a:xfrm>
          <a:prstGeom prst="ellipse">
            <a:avLst/>
          </a:prstGeom>
          <a:solidFill>
            <a:srgbClr val="2A69BE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296400" y="3200400"/>
            <a:ext cx="495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GUI</a:t>
            </a:r>
            <a:r>
              <a:rPr lang="zh-CN" altLang="en-US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界面展示</a:t>
            </a:r>
            <a:endParaRPr lang="zh-CN" altLang="en-US" sz="24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397000" y="4572000"/>
            <a:ext cx="889000" cy="889000"/>
          </a:xfrm>
          <a:prstGeom prst="ellipse">
            <a:avLst/>
          </a:prstGeom>
          <a:solidFill>
            <a:srgbClr val="2A69BE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565400" y="4724400"/>
            <a:ext cx="495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扩展功能与创新</a:t>
            </a:r>
            <a:endParaRPr lang="zh-CN" altLang="en-US" sz="24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128000" y="4572000"/>
            <a:ext cx="889000" cy="889000"/>
          </a:xfrm>
          <a:prstGeom prst="ellipse">
            <a:avLst/>
          </a:prstGeom>
          <a:solidFill>
            <a:srgbClr val="2A69BE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296400" y="4724400"/>
            <a:ext cx="495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 </a:t>
            </a:r>
            <a:r>
              <a:rPr lang="zh-CN" altLang="en-US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测试与异常处理</a:t>
            </a:r>
            <a:endParaRPr lang="zh-CN" altLang="en-US" sz="24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397000" y="6096000"/>
            <a:ext cx="889000" cy="889000"/>
          </a:xfrm>
          <a:prstGeom prst="ellipse">
            <a:avLst/>
          </a:prstGeom>
          <a:solidFill>
            <a:srgbClr val="2A69BE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2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22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65400" y="6248400"/>
            <a:ext cx="4953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 </a:t>
            </a:r>
            <a:r>
              <a:rPr lang="zh-CN" altLang="en-US" sz="24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总结与心得体会</a:t>
            </a:r>
            <a:endParaRPr lang="zh-CN" altLang="en-US" sz="24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项目背景与目的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02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2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016000" y="1587500"/>
            <a:ext cx="6604000" cy="8890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6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26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33500" y="2794000"/>
            <a:ext cx="5969000" cy="213391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分数运算广泛用于比例、工程计算、学习练习等场景。
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double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表示分数容易出现舍入误差，使用 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int/long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又会受到范围限制。
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本项目用 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BigInteger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保存分子分母，保持分数形式下的精确结果。</a:t>
            </a:r>
            <a:endParaRPr lang="zh-CN" altLang="en-US" sz="2200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636000" y="1587500"/>
            <a:ext cx="6604000" cy="889000"/>
          </a:xfrm>
          <a:prstGeom prst="roundRect">
            <a:avLst/>
          </a:prstGeom>
          <a:solidFill>
            <a:srgbClr val="E8F8F1"/>
          </a:solidFill>
          <a:ln w="15240">
            <a:solidFill>
              <a:srgbClr val="2E99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6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课程设计目的</a:t>
            </a:r>
            <a:endParaRPr lang="zh-CN" altLang="en-US" sz="2600" b="1">
              <a:solidFill>
                <a:srgbClr val="1969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53500" y="2794000"/>
            <a:ext cx="5969000" cy="213391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运用面向对象方法定义 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IntegerNumber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Fraction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继承层次。
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实现四则运算、乘方、开方、化简、输入输出与异常处理。
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构建菜单驱动和标准计算器式 </a:t>
            </a:r>
            <a:r>
              <a:rPr lang="en-US" altLang="zh-CN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22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，提升可用性。</a:t>
            </a:r>
            <a:endParaRPr lang="zh-CN" altLang="en-US" sz="2200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667000" y="6667500"/>
            <a:ext cx="10922000" cy="787400"/>
          </a:xfrm>
          <a:prstGeom prst="roundRect">
            <a:avLst/>
          </a:prstGeom>
          <a:solidFill>
            <a:srgbClr val="FFF9E8"/>
          </a:solidFill>
          <a:ln w="15240">
            <a:solidFill>
              <a:srgbClr val="FFB8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400" b="1">
                <a:solidFill>
                  <a:srgbClr val="805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核心目标：准确计算、清晰交互、异常可控、便于答辩展示</a:t>
            </a:r>
            <a:endParaRPr lang="zh-CN" altLang="en-US" sz="2400" b="1">
              <a:solidFill>
                <a:srgbClr val="805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03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3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015999" y="1524000"/>
          <a:ext cx="14224000" cy="488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1333"/>
                <a:gridCol w="4741333"/>
                <a:gridCol w="4741333"/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2A69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具体说明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2A69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代码对应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2A69BE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整数类与分数类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 </a:t>
                      </a:r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IntegerNumber </a:t>
                      </a:r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和派生类 </a:t>
                      </a:r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Fraction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numbers </a:t>
                      </a:r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提供 </a:t>
                      </a:r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writeTo / readFrom </a:t>
                      </a:r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模拟流式输入输出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Fraction.java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计算功能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加、减、乘、除、乘方、平方根等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Fraction + GUI </a:t>
                      </a:r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菜单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化简功能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构造时自动约分，分母保持为正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reduce()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异常处理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分母为零、除零、负数开方提示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DenominatorZeroException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菜单功能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每种运算可通过菜单选择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FractionCalculator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397000" y="7048500"/>
            <a:ext cx="13208000" cy="77970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需求落地思路：把数值运算封装在模型类，把表达式解析独立为 </a:t>
            </a:r>
            <a:r>
              <a:rPr lang="en-US" altLang="zh-CN" sz="22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 </a:t>
            </a:r>
            <a:r>
              <a:rPr lang="zh-CN" altLang="en-US" sz="22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工具类，界面层只负责输入、调度和展示。</a:t>
            </a:r>
            <a:endParaRPr lang="zh-CN" altLang="en-US" sz="22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系统架构与包结构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04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4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143000" y="1841500"/>
            <a:ext cx="2921000" cy="99060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com.calculator.main
Main</a:t>
            </a:r>
            <a:endParaRPr lang="zh-CN" altLang="en-US" sz="20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032500" y="1460500"/>
            <a:ext cx="4191000" cy="1714500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E99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com.calculator.ui
FractionCalculator
HistoryManager / HistoryPanel
FractionConfig</a:t>
            </a:r>
            <a:endParaRPr lang="zh-CN" altLang="en-US" b="1">
              <a:solidFill>
                <a:srgbClr val="1969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032500" y="4318000"/>
            <a:ext cx="4191000" cy="114300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FFB8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900" b="1">
                <a:solidFill>
                  <a:srgbClr val="805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com.calculator.core
FractionExpressionParser</a:t>
            </a:r>
            <a:endParaRPr lang="zh-CN" altLang="en-US" sz="1900" b="1">
              <a:solidFill>
                <a:srgbClr val="805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1303000" y="2984500"/>
            <a:ext cx="3810000" cy="1905000"/>
          </a:xfrm>
          <a:prstGeom prst="roundRect">
            <a:avLst/>
          </a:prstGeom>
          <a:solidFill>
            <a:srgbClr val="F4F1FF"/>
          </a:solidFill>
          <a:ln w="15240">
            <a:solidFill>
              <a:srgbClr val="745A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b="1">
                <a:solidFill>
                  <a:srgbClr val="473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com.calculator.numbers
IntegerNumber / Fraction
FractionFormat / FractionUtil
DenominatorZeroException</a:t>
            </a:r>
            <a:endParaRPr lang="zh-CN" altLang="en-US" b="1">
              <a:solidFill>
                <a:srgbClr val="4735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4064000" y="2209800"/>
            <a:ext cx="1968500" cy="127000"/>
          </a:xfrm>
          <a:prstGeom prst="line">
            <a:avLst/>
          </a:prstGeom>
          <a:ln w="25400">
            <a:solidFill>
              <a:srgbClr val="2A69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128000" y="3175000"/>
            <a:ext cx="0" cy="1143000"/>
          </a:xfrm>
          <a:prstGeom prst="line">
            <a:avLst/>
          </a:prstGeom>
          <a:ln w="25400">
            <a:solidFill>
              <a:srgbClr val="2E996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10223500" y="4191000"/>
            <a:ext cx="1079500" cy="698500"/>
          </a:xfrm>
          <a:prstGeom prst="line">
            <a:avLst/>
          </a:prstGeom>
          <a:ln w="25400">
            <a:solidFill>
              <a:srgbClr val="745A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0223500" y="2209800"/>
            <a:ext cx="1079500" cy="1409700"/>
          </a:xfrm>
          <a:prstGeom prst="line">
            <a:avLst/>
          </a:prstGeom>
          <a:ln w="25400">
            <a:solidFill>
              <a:srgbClr val="745A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143000" y="6350000"/>
            <a:ext cx="2921000" cy="47192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4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 </a:t>
            </a:r>
            <a:r>
              <a:rPr lang="zh-CN" altLang="en-US" sz="24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对应关系</a:t>
            </a:r>
            <a:endParaRPr lang="zh-CN" altLang="en-US" sz="24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91000" y="6286500"/>
            <a:ext cx="10287000" cy="107208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IntegerNumber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Fraction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FractionExpressionParser
View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JFrame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JTextField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、按钮网格、历史面板
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Controller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ActionListener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统一分发按钮与菜单事件</a:t>
            </a:r>
            <a:endParaRPr lang="zh-CN" altLang="en-US" sz="2100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核心类设计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05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5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270000" y="1714500"/>
            <a:ext cx="3810000" cy="20320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7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IntegerNumber
- BigInteger value
+ getValue()
+ gcd(a,b)
+ add/subtract/multiply</a:t>
            </a:r>
            <a:endParaRPr lang="zh-CN" altLang="en-US" sz="17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270000" y="4953000"/>
            <a:ext cx="3810000" cy="234950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7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Fraction
- BigInteger denominator
+ add/subtract/multiply/divide
+ pow(int)
+ reduce()
+ parseFraction()</a:t>
            </a:r>
            <a:endParaRPr lang="zh-CN" altLang="en-US" sz="17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3175000" y="3746500"/>
            <a:ext cx="0" cy="1206500"/>
          </a:xfrm>
          <a:prstGeom prst="line">
            <a:avLst/>
          </a:prstGeom>
          <a:ln w="25400">
            <a:solidFill>
              <a:srgbClr val="2A69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429000" y="4102100"/>
            <a:ext cx="1397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6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extends</a:t>
            </a:r>
            <a:endParaRPr lang="zh-CN" altLang="en-US" sz="16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6350000" y="2286000"/>
            <a:ext cx="4191000" cy="209550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FFB8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700" b="1">
                <a:solidFill>
                  <a:srgbClr val="805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FractionExpressionParser
+ parse(expression)
- tokenize()
- infixToPostfix()
- evaluatePostfix()</a:t>
            </a:r>
            <a:endParaRPr lang="zh-CN" altLang="en-US" sz="1700" b="1">
              <a:solidFill>
                <a:srgbClr val="805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1239500" y="1778000"/>
            <a:ext cx="4000500" cy="2476500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E99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7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FractionCalculator
extends JFrame
implements ActionListener
+ actionPerformed()
- handleMenuCommand()
- calculateExpression()</a:t>
            </a:r>
            <a:endParaRPr lang="zh-CN" altLang="en-US" sz="1700" b="1">
              <a:solidFill>
                <a:srgbClr val="1969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1239500" y="5461000"/>
            <a:ext cx="4000500" cy="1206500"/>
          </a:xfrm>
          <a:prstGeom prst="roundRect">
            <a:avLst/>
          </a:prstGeom>
          <a:solidFill>
            <a:srgbClr val="F4F1FF"/>
          </a:solidFill>
          <a:ln w="15240">
            <a:solidFill>
              <a:srgbClr val="745A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b="1">
                <a:solidFill>
                  <a:srgbClr val="473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HistoryManager / HistoryPanel
</a:t>
            </a:r>
            <a:r>
              <a:rPr lang="zh-CN" altLang="en-US" b="1">
                <a:solidFill>
                  <a:srgbClr val="4735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历史加载、追加、清空、导出</a:t>
            </a:r>
            <a:endParaRPr lang="zh-CN" altLang="en-US" b="1">
              <a:solidFill>
                <a:srgbClr val="4735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5080000" y="3302000"/>
            <a:ext cx="1270000" cy="2603500"/>
          </a:xfrm>
          <a:prstGeom prst="line">
            <a:avLst/>
          </a:prstGeom>
          <a:ln w="25400">
            <a:solidFill>
              <a:srgbClr val="FFB84D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10541000" y="2984500"/>
            <a:ext cx="698500" cy="317500"/>
          </a:xfrm>
          <a:prstGeom prst="line">
            <a:avLst/>
          </a:prstGeom>
          <a:ln w="25400">
            <a:solidFill>
              <a:srgbClr val="2E996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3208000" y="4254500"/>
            <a:ext cx="0" cy="1206500"/>
          </a:xfrm>
          <a:prstGeom prst="line">
            <a:avLst/>
          </a:prstGeom>
          <a:ln w="25400">
            <a:solidFill>
              <a:srgbClr val="745A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核心功能实现：分数运算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06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6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000" y="1270000"/>
            <a:ext cx="14224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2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加法：先求分母最小公倍数，再将分子通分相加，构造新 </a:t>
            </a:r>
            <a:r>
              <a:rPr lang="en-US" altLang="zh-CN" sz="22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Fraction </a:t>
            </a:r>
            <a:r>
              <a:rPr lang="zh-CN" altLang="en-US" sz="22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时自动化简。</a:t>
            </a:r>
            <a:endParaRPr lang="zh-CN" altLang="en-US" sz="22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143000" y="1968500"/>
            <a:ext cx="6604000" cy="24130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6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70000" y="2070100"/>
            <a:ext cx="6350000" cy="218008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500">
                <a:solidFill>
                  <a:srgbClr val="202C3E"/>
                </a:solidFill>
                <a:latin typeface="Consolas" panose="020B0609020204030204" pitchFamily="49" charset="0"/>
              </a:rPr>
              <a:t>public Fraction add(Fraction other) {</a:t>
            </a:r>
            <a:endParaRPr lang="en-US" altLang="zh-CN" sz="15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500">
                <a:solidFill>
                  <a:srgbClr val="202C3E"/>
                </a:solidFill>
                <a:latin typeface="Consolas" panose="020B0609020204030204" pitchFamily="49" charset="0"/>
              </a:rPr>
              <a:t>    BigInteger l = lcm(this.denominator, other.denominator);</a:t>
            </a:r>
            <a:endParaRPr lang="en-US" altLang="zh-CN" sz="15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500">
                <a:solidFill>
                  <a:srgbClr val="202C3E"/>
                </a:solidFill>
                <a:latin typeface="Consolas" panose="020B0609020204030204" pitchFamily="49" charset="0"/>
              </a:rPr>
              <a:t>    BigInteger n1 = this.value.multiply(l.divide(this.denominator));</a:t>
            </a:r>
            <a:endParaRPr lang="en-US" altLang="zh-CN" sz="15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500">
                <a:solidFill>
                  <a:srgbClr val="202C3E"/>
                </a:solidFill>
                <a:latin typeface="Consolas" panose="020B0609020204030204" pitchFamily="49" charset="0"/>
              </a:rPr>
              <a:t>    BigInteger n2 = other.value.multiply(l.divide(other.denominator));</a:t>
            </a:r>
            <a:endParaRPr lang="en-US" altLang="zh-CN" sz="15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500">
                <a:solidFill>
                  <a:srgbClr val="202C3E"/>
                </a:solidFill>
                <a:latin typeface="Consolas" panose="020B0609020204030204" pitchFamily="49" charset="0"/>
              </a:rPr>
              <a:t>    return new Fraction(n1.add(n2), l);</a:t>
            </a:r>
            <a:endParaRPr lang="en-US" altLang="zh-CN" sz="15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500">
                <a:solidFill>
                  <a:srgbClr val="202C3E"/>
                </a:solidFill>
                <a:latin typeface="Consolas" panose="020B0609020204030204" pitchFamily="49" charset="0"/>
              </a:rPr>
              <a:t>}</a:t>
            </a:r>
            <a:endParaRPr lang="zh-CN" altLang="en-US" sz="1500">
              <a:solidFill>
                <a:srgbClr val="202C3E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445500" y="1968500"/>
            <a:ext cx="6604000" cy="35560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6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572500" y="2070100"/>
            <a:ext cx="6350000" cy="290335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private void reduce() {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if (denominator.signum() &lt; 0) {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    value = value.negate();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    denominator = denominator.negate();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}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if (value.signum() == 0) {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    denominator = BigInteger.ONE;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    return;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}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BigInteger g = IntegerNumber.gcd(value.abs(), denominator);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value = value.divide(g);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    denominator = denominator.divide(g);</a:t>
            </a:r>
            <a:endParaRPr lang="en-US" altLang="zh-CN" sz="1400">
              <a:solidFill>
                <a:srgbClr val="202C3E"/>
              </a:solidFill>
              <a:latin typeface="Consolas" panose="020B0609020204030204" pitchFamily="49" charset="0"/>
            </a:endParaRPr>
          </a:p>
          <a:p>
            <a:r>
              <a:rPr lang="en-US" altLang="zh-CN" sz="1400">
                <a:solidFill>
                  <a:srgbClr val="202C3E"/>
                </a:solidFill>
                <a:latin typeface="Consolas" panose="020B0609020204030204" pitchFamily="49" charset="0"/>
              </a:rPr>
              <a:t>}</a:t>
            </a:r>
            <a:endParaRPr lang="zh-CN" altLang="en-US" sz="1400">
              <a:solidFill>
                <a:srgbClr val="202C3E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905000" y="6159500"/>
            <a:ext cx="12446000" cy="1422400"/>
          </a:xfrm>
          <a:prstGeom prst="roundRect">
            <a:avLst/>
          </a:prstGeom>
          <a:solidFill>
            <a:srgbClr val="EBF4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实现特点
</a:t>
            </a:r>
            <a:r>
              <a:rPr lang="en-US" altLang="zh-CN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BigInteger </a:t>
            </a:r>
            <a:r>
              <a:rPr lang="zh-CN" altLang="en-US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保存分子和分母，避免溢出
</a:t>
            </a:r>
            <a:r>
              <a:rPr lang="en-US" altLang="zh-CN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构造函数统一触发 </a:t>
            </a:r>
            <a:r>
              <a:rPr lang="en-US" altLang="zh-CN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reduce()
• </a:t>
            </a:r>
            <a:r>
              <a:rPr lang="zh-CN" altLang="en-US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分母始终调整为正数
</a:t>
            </a:r>
            <a:r>
              <a:rPr lang="en-US" altLang="zh-CN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结果保持最简分数形式</a:t>
            </a:r>
            <a:endParaRPr lang="zh-CN" altLang="en-US" sz="20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核心功能实现：表达式解析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07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7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4400" y="1320800"/>
            <a:ext cx="14224000" cy="44114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2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解析器采用调度场算法：中缀表达式 → </a:t>
            </a:r>
            <a:r>
              <a:rPr lang="en-US" altLang="zh-CN" sz="22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22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 → 后缀表达式 → 栈求值。</a:t>
            </a:r>
            <a:endParaRPr lang="zh-CN" altLang="en-US" sz="22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143000" y="2286000"/>
            <a:ext cx="3111500" cy="133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输入表达式
</a:t>
            </a:r>
            <a:r>
              <a:rPr lang="en-US" altLang="zh-CN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(1/2+3/4)*2^3</a:t>
            </a:r>
            <a:endParaRPr lang="zh-CN" altLang="en-US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254500" y="2946400"/>
            <a:ext cx="635000" cy="0"/>
          </a:xfrm>
          <a:prstGeom prst="line">
            <a:avLst/>
          </a:prstGeom>
          <a:ln w="25400">
            <a:solidFill>
              <a:srgbClr val="2A69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/>
        </p:nvSpPr>
        <p:spPr>
          <a:xfrm>
            <a:off x="4889500" y="2286000"/>
            <a:ext cx="3111500" cy="133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分词
</a:t>
            </a:r>
            <a:r>
              <a:rPr lang="en-US" altLang="zh-CN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( 1/2 + 3/4 ) * 2 ^ 3</a:t>
            </a:r>
            <a:endParaRPr lang="zh-CN" altLang="en-US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8001000" y="2946400"/>
            <a:ext cx="635000" cy="0"/>
          </a:xfrm>
          <a:prstGeom prst="line">
            <a:avLst/>
          </a:prstGeom>
          <a:ln w="25400">
            <a:solidFill>
              <a:srgbClr val="2A69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/>
        </p:nvSpPr>
        <p:spPr>
          <a:xfrm>
            <a:off x="8636000" y="2286000"/>
            <a:ext cx="3111500" cy="133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中缀转后缀
</a:t>
            </a:r>
            <a:r>
              <a:rPr lang="en-US" altLang="zh-CN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1/2 3/4 + 2 3 ^ *</a:t>
            </a:r>
            <a:endParaRPr lang="zh-CN" altLang="en-US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1747500" y="2946400"/>
            <a:ext cx="635000" cy="0"/>
          </a:xfrm>
          <a:prstGeom prst="line">
            <a:avLst/>
          </a:prstGeom>
          <a:ln w="25400">
            <a:solidFill>
              <a:srgbClr val="2A69B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/>
          <p:cNvSpPr/>
          <p:nvPr/>
        </p:nvSpPr>
        <p:spPr>
          <a:xfrm>
            <a:off x="12382500" y="2286000"/>
            <a:ext cx="3111500" cy="1333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后缀求值
</a:t>
            </a:r>
            <a:r>
              <a:rPr lang="en-US" altLang="zh-CN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333500" y="4635500"/>
            <a:ext cx="3810000" cy="133350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FFB8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000" b="1">
                <a:solidFill>
                  <a:srgbClr val="805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运算符优先级
函数 </a:t>
            </a:r>
            <a:r>
              <a:rPr lang="en-US" altLang="zh-CN" sz="2000" b="1">
                <a:solidFill>
                  <a:srgbClr val="805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^ &gt; * / &gt; + -</a:t>
            </a:r>
            <a:endParaRPr lang="zh-CN" altLang="en-US" sz="2000" b="1">
              <a:solidFill>
                <a:srgbClr val="805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6223000" y="4445000"/>
            <a:ext cx="8763000" cy="1651000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E99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支持函数
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abs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neg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sqrt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floor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ceil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round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trunc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recip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tan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en-US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</a:t>
            </a:r>
            <a:endParaRPr lang="zh-CN" altLang="en-US" sz="2000" b="1">
              <a:solidFill>
                <a:srgbClr val="1969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78000" y="7048500"/>
            <a:ext cx="12700000" cy="4257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关键处理：负号通过检查前一个 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是否为运算符或左括号来区分一元负号和二元减号。</a:t>
            </a:r>
            <a:endParaRPr lang="zh-CN" altLang="en-US" sz="2100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界面展示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08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8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000" y="1270000"/>
            <a:ext cx="14224000" cy="74739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实际程序基于 </a:t>
            </a:r>
            <a:r>
              <a:rPr lang="en-US" altLang="zh-CN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Swing</a:t>
            </a:r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：顶部显示框，中部 </a:t>
            </a:r>
            <a:r>
              <a:rPr lang="en-US" altLang="zh-CN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6×4 </a:t>
            </a:r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按钮网格，右侧历史面板，顶部菜单栏覆盖操作、工具、高级数学、设置和帮助。（仅仅是简单示意图）</a:t>
            </a:r>
            <a:endParaRPr lang="zh-CN" altLang="en-US" sz="21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524000" y="2095500"/>
            <a:ext cx="13208000" cy="5461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AEBC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841500" y="2387600"/>
            <a:ext cx="12573000" cy="431800"/>
          </a:xfrm>
          <a:prstGeom prst="rect">
            <a:avLst/>
          </a:prstGeom>
          <a:solidFill>
            <a:srgbClr val="EEF3FA"/>
          </a:solidFill>
          <a:ln w="15240">
            <a:solidFill>
              <a:srgbClr val="CAD5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5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   工具   高级数学   设置   帮助</a:t>
            </a:r>
            <a:endParaRPr lang="zh-CN" altLang="en-US" sz="1500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1500" y="2984500"/>
            <a:ext cx="8890000" cy="7366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24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(1/2+3/4) = 5/4</a:t>
            </a:r>
            <a:endParaRPr lang="zh-CN" altLang="en-US" sz="24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841500" y="40005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4000500" y="40005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←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6159500" y="40005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8318500" y="40005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841500" y="45339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000500" y="45339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6159500" y="45339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318500" y="45339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1841500" y="50673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4000500" y="50673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6159500" y="50673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8318500" y="50673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1841500" y="56007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4000500" y="56007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159500" y="56007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8318500" y="56007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841500" y="61341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4000500" y="61341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6159500" y="61341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318500" y="61341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^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1841500" y="66675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4000500" y="66675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6159500" y="6667500"/>
            <a:ext cx="1905000" cy="40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±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8318500" y="6667500"/>
            <a:ext cx="1905000" cy="406400"/>
          </a:xfrm>
          <a:prstGeom prst="roundRect">
            <a:avLst/>
          </a:prstGeom>
          <a:solidFill>
            <a:srgbClr val="DFEEFF"/>
          </a:solidFill>
          <a:ln w="15240">
            <a:solidFill>
              <a:srgbClr val="D2DC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altLang="zh-CN" sz="1500" b="1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1500" b="1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176000" y="2984500"/>
            <a:ext cx="3238500" cy="368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BE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6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历史记录
</a:t>
            </a:r>
            <a:r>
              <a:rPr lang="en-US" altLang="zh-CN" sz="16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1/2 + 3/4 = 5/4
(2/3)^-2 = 9/4
(1/2+1/3)*2 = 5/3
[</a:t>
            </a:r>
            <a:r>
              <a:rPr lang="zh-CN" altLang="en-US" sz="16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清除历史</a:t>
            </a:r>
            <a:r>
              <a:rPr lang="en-US" altLang="zh-CN" sz="16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[</a:t>
            </a:r>
            <a:r>
              <a:rPr lang="zh-CN" altLang="en-US" sz="16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导出历史</a:t>
            </a:r>
            <a:r>
              <a:rPr lang="en-US" altLang="zh-CN" sz="16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zh-CN" altLang="en-US" sz="1600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588000" y="7810500"/>
            <a:ext cx="5080000" cy="33342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 sz="15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图：计算器主界面结构示意</a:t>
            </a:r>
            <a:endParaRPr lang="zh-CN" altLang="en-US" sz="15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创新与扩展功能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09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9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016000" y="1524000"/>
            <a:ext cx="2286000" cy="7112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9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无限高精度</a:t>
            </a:r>
            <a:endParaRPr lang="zh-CN" altLang="en-US" sz="19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19500" y="1587500"/>
            <a:ext cx="4254500" cy="65659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BigInteger 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存储分子分母，突破 </a:t>
            </a:r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int/long 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范围限制</a:t>
            </a:r>
            <a:endParaRPr lang="zh-CN" altLang="en-US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255000" y="1524000"/>
            <a:ext cx="2286000" cy="7112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9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精确小数</a:t>
            </a:r>
            <a:endParaRPr lang="zh-CN" altLang="en-US" sz="19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858500" y="1587500"/>
            <a:ext cx="4254500" cy="65659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toDecimalString(scale) 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支持指定小数位和四舍五入</a:t>
            </a:r>
            <a:endParaRPr lang="zh-CN" altLang="en-US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16000" y="3048000"/>
            <a:ext cx="2286000" cy="7112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9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表达式解析</a:t>
            </a:r>
            <a:endParaRPr lang="zh-CN" altLang="en-US" sz="19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19500" y="3111500"/>
            <a:ext cx="42545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支持括号、优先级、乘方和一元函数</a:t>
            </a:r>
            <a:endParaRPr lang="zh-CN" altLang="en-US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8255000" y="3048000"/>
            <a:ext cx="2286000" cy="7112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9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数组统计</a:t>
            </a:r>
            <a:endParaRPr lang="zh-CN" altLang="en-US" sz="19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858500" y="3111500"/>
            <a:ext cx="4254500" cy="65659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average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variance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median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 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等工具方法</a:t>
            </a:r>
            <a:endParaRPr lang="zh-CN" altLang="en-US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016000" y="4572000"/>
            <a:ext cx="2286000" cy="7112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9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历史记录</a:t>
            </a:r>
            <a:endParaRPr lang="zh-CN" altLang="en-US" sz="19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19500" y="4635500"/>
            <a:ext cx="4254500" cy="65659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自动保存、清空、导出、搜索历史计算记录</a:t>
            </a:r>
            <a:endParaRPr lang="zh-CN" altLang="en-US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8255000" y="4572000"/>
            <a:ext cx="2286000" cy="7112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9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配置持久化</a:t>
            </a:r>
            <a:endParaRPr lang="zh-CN" altLang="en-US" sz="19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858500" y="4635500"/>
            <a:ext cx="4254500" cy="65659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FractionConfig 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保存小数位数、窗口大小和主题</a:t>
            </a:r>
            <a:endParaRPr lang="zh-CN" altLang="en-US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1016000" y="6096000"/>
            <a:ext cx="2286000" cy="7112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9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高级数学</a:t>
            </a:r>
            <a:endParaRPr lang="zh-CN" altLang="en-US" sz="19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19500" y="6159500"/>
            <a:ext cx="42545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tan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 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等近似计算</a:t>
            </a:r>
            <a:endParaRPr lang="zh-CN" altLang="en-US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8255000" y="6096000"/>
            <a:ext cx="2286000" cy="7112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19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连分数输出</a:t>
            </a:r>
            <a:endParaRPr lang="zh-CN" altLang="en-US" sz="19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858500" y="6159500"/>
            <a:ext cx="42545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FractionFormat </a:t>
            </a:r>
            <a:r>
              <a:rPr lang="zh-CN" altLang="en-US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支持连分数展开展示</a:t>
            </a:r>
            <a:endParaRPr lang="zh-CN" altLang="en-US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测试与异常处理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10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10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90599" y="1397000"/>
          <a:ext cx="142875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875"/>
                <a:gridCol w="3571875"/>
                <a:gridCol w="3571875"/>
                <a:gridCol w="3571875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测试场景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2A69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2A69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期望结果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2A69B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实际结果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2A69B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加法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1/2 + 3/4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5/4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5/4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除法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 / 5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负指数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(2/3)^(-2)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9/4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9/4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表达式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(1/2+1/3)*2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5/3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5/3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分母为零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1/0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抛出异常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0">
                          <a:solidFill>
                            <a:srgbClr val="242B3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错误对话框</a:t>
                      </a:r>
                      <a:endParaRPr lang="zh-CN" altLang="en-US" sz="1500" b="0">
                        <a:solidFill>
                          <a:srgbClr val="242B37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>
                    <a:solidFill>
                      <a:srgbClr val="F3F8FF"/>
                    </a:solidFill>
                  </a:tcPr>
                </a:tc>
              </a:tr>
            </a:tbl>
          </a:graphicData>
        </a:graphic>
      </p:graphicFrame>
      <p:sp>
        <p:nvSpPr>
          <p:cNvPr id="9" name="矩形: 圆角 8"/>
          <p:cNvSpPr/>
          <p:nvPr/>
        </p:nvSpPr>
        <p:spPr>
          <a:xfrm>
            <a:off x="1651000" y="5778500"/>
            <a:ext cx="12954000" cy="1587500"/>
          </a:xfrm>
          <a:prstGeom prst="roundRect">
            <a:avLst/>
          </a:prstGeom>
          <a:solidFill>
            <a:srgbClr val="FFEFEF"/>
          </a:solidFill>
          <a:ln w="15240">
            <a:solidFill>
              <a:srgbClr val="D24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异常处理机制
</a:t>
            </a:r>
            <a:r>
              <a:rPr lang="en-US" altLang="zh-CN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分母为零：</a:t>
            </a:r>
            <a:r>
              <a:rPr lang="en-US" altLang="zh-CN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DenominatorZeroException
• </a:t>
            </a:r>
            <a:r>
              <a:rPr lang="zh-CN" altLang="en-US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除零：</a:t>
            </a:r>
            <a:r>
              <a:rPr lang="en-US" altLang="zh-CN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ArithmeticException / </a:t>
            </a:r>
            <a:r>
              <a:rPr lang="zh-CN" altLang="en-US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解析器异常
</a:t>
            </a:r>
            <a:r>
              <a:rPr lang="en-US" altLang="zh-CN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负数开方：菜单层检查并提示
</a:t>
            </a:r>
            <a:r>
              <a:rPr lang="en-US" altLang="zh-CN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GUI </a:t>
            </a:r>
            <a:r>
              <a:rPr lang="zh-CN" altLang="en-US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统一通过 </a:t>
            </a:r>
            <a:r>
              <a:rPr lang="en-US" altLang="zh-CN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JOptionPane.showMessageDialog </a:t>
            </a:r>
            <a:r>
              <a:rPr lang="zh-CN" altLang="en-US" sz="2000" b="1">
                <a:solidFill>
                  <a:srgbClr val="91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展示错误</a:t>
            </a:r>
            <a:endParaRPr lang="zh-CN" altLang="en-US" sz="2000" b="1">
              <a:solidFill>
                <a:srgbClr val="912A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78000" y="7747000"/>
            <a:ext cx="12700000" cy="37959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验证：工程已使用 </a:t>
            </a:r>
            <a:r>
              <a:rPr lang="en-US" altLang="zh-CN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javac -encoding UTF-8 </a:t>
            </a:r>
            <a:r>
              <a:rPr lang="zh-CN" altLang="en-US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编译通过，核心表达式用 </a:t>
            </a:r>
            <a:r>
              <a:rPr lang="en-US" altLang="zh-CN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jshell </a:t>
            </a:r>
            <a:r>
              <a:rPr lang="zh-CN" altLang="en-US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调用返回预期结果。</a:t>
            </a:r>
            <a:endParaRPr lang="zh-CN" altLang="en-US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总结与心得体会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11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11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397000" y="1587500"/>
            <a:ext cx="5969000" cy="8890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5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项目收获</a:t>
            </a:r>
            <a:endParaRPr lang="zh-CN" altLang="en-US" sz="25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14500" y="2794000"/>
            <a:ext cx="5334000" cy="2687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深入理解继承、多态在数值类设计中的应用。
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 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BigInteger / BigDecimal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的高精度计算方式。
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 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Swing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事件模型、菜单驱动和历史记录持久化。
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完整实践需求分析、系统设计、编码、测试和文档整理。</a:t>
            </a:r>
            <a:endParaRPr lang="zh-CN" altLang="en-US" sz="2100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890000" y="1587500"/>
            <a:ext cx="5969000" cy="889000"/>
          </a:xfrm>
          <a:prstGeom prst="roundRect">
            <a:avLst/>
          </a:prstGeom>
          <a:solidFill>
            <a:srgbClr val="ECF9F2"/>
          </a:solidFill>
          <a:ln w="15240">
            <a:solidFill>
              <a:srgbClr val="2E99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500" b="1">
                <a:solidFill>
                  <a:srgbClr val="19694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问题与解决</a:t>
            </a:r>
            <a:endParaRPr lang="zh-CN" altLang="en-US" sz="2500" b="1">
              <a:solidFill>
                <a:srgbClr val="19694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07500" y="2794000"/>
            <a:ext cx="5334000" cy="2687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负号解析歧义：通过检查前一个 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类型区分一元负号。
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gcd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命名冲突：显式调用 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IntegerNumber.gcd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
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小数精度问题：分数保持精确形式，只有显示时转 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BigDecimal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
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GUI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功能多：用统一 </a:t>
            </a:r>
            <a:r>
              <a:rPr lang="en-US" altLang="zh-CN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actionPerformed </a:t>
            </a:r>
            <a:r>
              <a:rPr lang="zh-CN" altLang="en-US" sz="21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和菜单分发降低重复。</a:t>
            </a:r>
            <a:endParaRPr lang="zh-CN" altLang="en-US" sz="2100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968500" y="7048500"/>
            <a:ext cx="12319000" cy="787400"/>
          </a:xfrm>
          <a:prstGeom prst="roundRect">
            <a:avLst/>
          </a:prstGeom>
          <a:solidFill>
            <a:srgbClr val="FFF7E7"/>
          </a:solidFill>
          <a:ln w="15240">
            <a:solidFill>
              <a:srgbClr val="FFB8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200" b="1">
                <a:solidFill>
                  <a:srgbClr val="805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结论：系统满足课程设计基本要求，并在表达式解析、统计工具、历史记录和高级数学函数方面做了扩展。</a:t>
            </a:r>
            <a:endParaRPr lang="zh-CN" altLang="en-US" sz="2200" b="1">
              <a:solidFill>
                <a:srgbClr val="8052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183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90500"/>
            <a:ext cx="11430000" cy="53347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  <a:endParaRPr lang="zh-CN" alt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0" y="266700"/>
            <a:ext cx="279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分数计算器课程设计 </a:t>
            </a:r>
            <a:r>
              <a:rPr lang="en-US" altLang="zh-CN" sz="1400">
                <a:solidFill>
                  <a:srgbClr val="D2E1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12</a:t>
            </a:r>
            <a:endParaRPr lang="zh-CN" altLang="en-US" sz="1400">
              <a:solidFill>
                <a:srgbClr val="D2E1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8636000"/>
            <a:ext cx="15036800" cy="0"/>
          </a:xfrm>
          <a:prstGeom prst="line">
            <a:avLst/>
          </a:prstGeom>
          <a:ln w="12700">
            <a:solidFill>
              <a:srgbClr val="DE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8712200"/>
            <a:ext cx="4572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程序设计基础结课考核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46000" y="8712200"/>
            <a:ext cx="3175000" cy="2718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r"/>
            <a:r>
              <a:rPr lang="zh-CN" altLang="en-US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王宸阅 </a:t>
            </a:r>
            <a:r>
              <a:rPr lang="en-US" altLang="zh-CN" sz="1100">
                <a:solidFill>
                  <a:srgbClr val="6E768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202512326    12 / 14</a:t>
            </a:r>
            <a:endParaRPr lang="zh-CN" altLang="en-US" sz="1100">
              <a:solidFill>
                <a:srgbClr val="6E768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87500" y="1905000"/>
            <a:ext cx="13081000" cy="293413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郑莉，董渊，何江舟</a:t>
            </a:r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Java</a:t>
            </a:r>
            <a:r>
              <a:rPr lang="zh-CN" altLang="en-US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语言程序设计（第</a:t>
            </a:r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版）</a:t>
            </a:r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[M]. </a:t>
            </a:r>
            <a:r>
              <a:rPr lang="zh-CN" altLang="en-US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清华大学出版社，</a:t>
            </a:r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2022.
2. </a:t>
            </a:r>
            <a:r>
              <a:rPr lang="zh-CN" altLang="en-US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埃克尔</a:t>
            </a:r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Java</a:t>
            </a:r>
            <a:r>
              <a:rPr lang="zh-CN" altLang="en-US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编程思想（第</a:t>
            </a:r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版）</a:t>
            </a:r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[M]. </a:t>
            </a:r>
            <a:r>
              <a:rPr lang="zh-CN" altLang="en-US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陈昊鹏，译</a:t>
            </a:r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机械工业出版社，</a:t>
            </a:r>
            <a:r>
              <a:rPr lang="en-US" altLang="zh-CN" sz="2300">
                <a:solidFill>
                  <a:srgbClr val="242B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2007.
3. Cay S. Horstmann. Core Java Volume I - Fundamentals (11th Edition)[M]. Prentice Hall, 2019.
4. Oracle Java Documentation: java.math.BigInteger, BigDecimal, Swing API.</a:t>
            </a:r>
            <a:endParaRPr lang="zh-CN" altLang="en-US" sz="2300">
              <a:solidFill>
                <a:srgbClr val="242B3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159000" y="6794500"/>
            <a:ext cx="11938000" cy="889000"/>
          </a:xfrm>
          <a:prstGeom prst="roundRect">
            <a:avLst/>
          </a:prstGeom>
          <a:solidFill>
            <a:srgbClr val="E5F1FF"/>
          </a:solidFill>
          <a:ln w="15240">
            <a:solidFill>
              <a:srgbClr val="2A69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r>
              <a:rPr lang="en-US" altLang="zh-CN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 </a:t>
            </a:r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内容同时参考项目报告模板、</a:t>
            </a:r>
            <a:r>
              <a:rPr lang="en-US" altLang="zh-CN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calculator </a:t>
            </a:r>
            <a:r>
              <a:rPr lang="zh-CN" altLang="en-US" sz="2100" b="1">
                <a:solidFill>
                  <a:srgbClr val="183A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工程源码和课程设计题目要求。</a:t>
            </a:r>
            <a:endParaRPr lang="zh-CN" altLang="en-US" sz="2100" b="1">
              <a:solidFill>
                <a:srgbClr val="183A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0414000" y="1143000"/>
            <a:ext cx="4191000" cy="4191000"/>
          </a:xfrm>
          <a:prstGeom prst="ellipse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51000" y="2349500"/>
            <a:ext cx="8255000" cy="93358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5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lang="zh-CN" altLang="en-US" sz="54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52600" y="3581400"/>
            <a:ext cx="6604000" cy="53213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欢迎老师批评指正</a:t>
            </a:r>
            <a:endParaRPr lang="zh-CN" altLang="en-US" sz="28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41500" y="5080000"/>
            <a:ext cx="6604000" cy="157861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
班级：</a:t>
            </a:r>
            <a:r>
              <a:rPr lang="en-US" altLang="zh-CN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CST2502
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学号：</a:t>
            </a:r>
            <a:r>
              <a:rPr lang="en-US" altLang="zh-CN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202512326
</a:t>
            </a:r>
            <a:r>
              <a:rPr lang="zh-CN" altLang="en-US" sz="2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姓名：王宸阅</a:t>
            </a:r>
            <a:endParaRPr lang="zh-CN" altLang="en-US" sz="24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652000" y="6096000"/>
            <a:ext cx="4953000" cy="50270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26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锲而不舍，金石可镂。</a:t>
            </a:r>
            <a:endParaRPr lang="zh-CN" altLang="en-US" sz="26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716000" y="8445500"/>
            <a:ext cx="1524000" cy="31803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  <a:scene3d>
              <a:camera prst="orthographicFront"/>
              <a:lightRig rig="threePt" dir="t"/>
            </a:scene3d>
          </a:bodyPr>
          <a:lstStyle/>
          <a:p>
            <a:pPr algn="r"/>
            <a:r>
              <a:rPr lang="en-US" altLang="zh-CN" sz="140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14 / 14</a:t>
            </a:r>
            <a:endParaRPr lang="en-US" altLang="zh-CN" sz="140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JlNDBmMjAxMGQwNjIyMjBiMmFmZWI5ZDdkMWM0N2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4751</Words>
  <Application>WPS 演示</Application>
  <PresentationFormat>自定义</PresentationFormat>
  <Paragraphs>417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Consolas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宸阅 王</dc:creator>
  <cp:lastModifiedBy>不择手段</cp:lastModifiedBy>
  <cp:revision>2</cp:revision>
  <dcterms:created xsi:type="dcterms:W3CDTF">2026-06-28T15:55:00Z</dcterms:created>
  <dcterms:modified xsi:type="dcterms:W3CDTF">2026-06-28T16:05:58Z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A70A29B79FEC41D48A0E9336B203C453_12</vt:lpwstr>
  </property>
  <property fmtid="{D5CDD505-2E9C-101B-9397-08002B2CF9AE}" pid="3" name="KSOProductBuildVer">
    <vt:lpwstr>2052-12.1.0.17468</vt:lpwstr>
  </property>
</Properties>
</file>